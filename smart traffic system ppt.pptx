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11125200"/>
  <p:notesSz cx="6858000" cy="9144000"/>
  <p:embeddedFontLst>
    <p:embeddedFont>
      <p:font typeface="Montserrat Medium" charset="1" panose="00000600000000000000"/>
      <p:regular r:id="rId17"/>
    </p:embeddedFont>
    <p:embeddedFont>
      <p:font typeface="Inter Light" charset="1" panose="02000503000000020004"/>
      <p:regular r:id="rId18"/>
    </p:embeddedFont>
    <p:embeddedFont>
      <p:font typeface="Inter" charset="1" panose="020B050203000000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2" Target="../media/image3.jpeg" Type="http://schemas.openxmlformats.org/officeDocument/2006/relationships/image"/><Relationship Id="rId3" Target="../media/image2.jpe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jpe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media/image16.jpeg" Type="http://schemas.openxmlformats.org/officeDocument/2006/relationships/image"/><Relationship Id="rId3" Target="../media/image2.jpeg" Type="http://schemas.openxmlformats.org/officeDocument/2006/relationships/image"/><Relationship Id="rId4" Target="../media/image28.jpe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https://drive.google.com/file/d/1TEEN4ZpDk3QWOJIDqtKY3n54AR1867F8/view?usp=sharing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29107"/>
            <a:ext cx="11430000" cy="6667500"/>
          </a:xfrm>
          <a:custGeom>
            <a:avLst/>
            <a:gdLst/>
            <a:ahLst/>
            <a:cxnLst/>
            <a:rect r="r" b="b" t="t" l="l"/>
            <a:pathLst>
              <a:path h="6667500" w="11430000">
                <a:moveTo>
                  <a:pt x="0" y="0"/>
                </a:moveTo>
                <a:lnTo>
                  <a:pt x="11430000" y="0"/>
                </a:lnTo>
                <a:lnTo>
                  <a:pt x="11430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" r="0" b="-5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29107"/>
            <a:ext cx="11430000" cy="6667243"/>
          </a:xfrm>
          <a:custGeom>
            <a:avLst/>
            <a:gdLst/>
            <a:ahLst/>
            <a:cxnLst/>
            <a:rect r="r" b="b" t="t" l="l"/>
            <a:pathLst>
              <a:path h="6667243" w="11430000">
                <a:moveTo>
                  <a:pt x="0" y="0"/>
                </a:moveTo>
                <a:lnTo>
                  <a:pt x="11430000" y="0"/>
                </a:lnTo>
                <a:lnTo>
                  <a:pt x="11430000" y="6667243"/>
                </a:lnTo>
                <a:lnTo>
                  <a:pt x="0" y="6667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2228851"/>
            <a:ext cx="11430000" cy="6667500"/>
            <a:chOff x="0" y="0"/>
            <a:chExt cx="11430000" cy="666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00">
                  <a:moveTo>
                    <a:pt x="0" y="6667500"/>
                  </a:moveTo>
                  <a:lnTo>
                    <a:pt x="11430000" y="66675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88539" y="3604574"/>
            <a:ext cx="9396117" cy="73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b="true" sz="4657">
                <a:solidFill>
                  <a:srgbClr val="E5E0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Smart Traffic Management for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29040" y="4347524"/>
            <a:ext cx="6499193" cy="211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</a:pPr>
            <a:r>
              <a:rPr lang="en-US" b="true" sz="4657">
                <a:solidFill>
                  <a:srgbClr val="E5E0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Urban Congestion</a:t>
            </a:r>
          </a:p>
          <a:p>
            <a:pPr algn="ctr">
              <a:lnSpc>
                <a:spcPts val="5062"/>
              </a:lnSpc>
            </a:pPr>
            <a:r>
              <a:rPr lang="en-US" b="true" sz="2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Theme: Smart Automation / Urban Development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"/>
                <a:ea typeface="Inter"/>
                <a:cs typeface="Inter"/>
                <a:sym typeface="Inter"/>
              </a:rPr>
              <a:t>Team Name: 4-i-gen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8496" y="5637084"/>
            <a:ext cx="1880282" cy="45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1614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Category:</a:t>
            </a:r>
            <a:r>
              <a:rPr lang="en-US" sz="161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614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Software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124512"/>
            <a:ext cx="11430000" cy="8877300"/>
          </a:xfrm>
          <a:custGeom>
            <a:avLst/>
            <a:gdLst/>
            <a:ahLst/>
            <a:cxnLst/>
            <a:rect r="r" b="b" t="t" l="l"/>
            <a:pathLst>
              <a:path h="8877300" w="11430000">
                <a:moveTo>
                  <a:pt x="0" y="0"/>
                </a:moveTo>
                <a:lnTo>
                  <a:pt x="11430000" y="0"/>
                </a:lnTo>
                <a:lnTo>
                  <a:pt x="11430000" y="8877300"/>
                </a:lnTo>
                <a:lnTo>
                  <a:pt x="0" y="8877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" r="0" b="-4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124512"/>
            <a:ext cx="11430000" cy="8877043"/>
          </a:xfrm>
          <a:custGeom>
            <a:avLst/>
            <a:gdLst/>
            <a:ahLst/>
            <a:cxnLst/>
            <a:rect r="r" b="b" t="t" l="l"/>
            <a:pathLst>
              <a:path h="8877043" w="11430000">
                <a:moveTo>
                  <a:pt x="0" y="0"/>
                </a:moveTo>
                <a:lnTo>
                  <a:pt x="11430000" y="0"/>
                </a:lnTo>
                <a:lnTo>
                  <a:pt x="11430000" y="8877043"/>
                </a:lnTo>
                <a:lnTo>
                  <a:pt x="0" y="8877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1124256"/>
            <a:ext cx="11430000" cy="8877300"/>
            <a:chOff x="0" y="0"/>
            <a:chExt cx="11430000" cy="8877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8877300"/>
            </a:xfrm>
            <a:custGeom>
              <a:avLst/>
              <a:gdLst/>
              <a:ahLst/>
              <a:cxnLst/>
              <a:rect r="r" b="b" t="t" l="l"/>
              <a:pathLst>
                <a:path h="8877300" w="11430000">
                  <a:moveTo>
                    <a:pt x="0" y="8877300"/>
                  </a:moveTo>
                  <a:lnTo>
                    <a:pt x="11430000" y="88773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F5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1124512"/>
            <a:ext cx="4286250" cy="8877043"/>
          </a:xfrm>
          <a:custGeom>
            <a:avLst/>
            <a:gdLst/>
            <a:ahLst/>
            <a:cxnLst/>
            <a:rect r="r" b="b" t="t" l="l"/>
            <a:pathLst>
              <a:path h="8877043" w="4286250">
                <a:moveTo>
                  <a:pt x="0" y="0"/>
                </a:moveTo>
                <a:lnTo>
                  <a:pt x="4286250" y="0"/>
                </a:lnTo>
                <a:lnTo>
                  <a:pt x="4286250" y="8877043"/>
                </a:lnTo>
                <a:lnTo>
                  <a:pt x="0" y="8877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8" t="-2" r="-15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6572" y="2860977"/>
            <a:ext cx="6070597" cy="1650997"/>
          </a:xfrm>
          <a:custGeom>
            <a:avLst/>
            <a:gdLst/>
            <a:ahLst/>
            <a:cxnLst/>
            <a:rect r="r" b="b" t="t" l="l"/>
            <a:pathLst>
              <a:path h="1650997" w="6070597">
                <a:moveTo>
                  <a:pt x="0" y="0"/>
                </a:moveTo>
                <a:lnTo>
                  <a:pt x="6070597" y="0"/>
                </a:lnTo>
                <a:lnTo>
                  <a:pt x="6070597" y="1650996"/>
                </a:lnTo>
                <a:lnTo>
                  <a:pt x="0" y="165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6572" y="4556427"/>
            <a:ext cx="6070597" cy="1650997"/>
          </a:xfrm>
          <a:custGeom>
            <a:avLst/>
            <a:gdLst/>
            <a:ahLst/>
            <a:cxnLst/>
            <a:rect r="r" b="b" t="t" l="l"/>
            <a:pathLst>
              <a:path h="1650997" w="6070597">
                <a:moveTo>
                  <a:pt x="0" y="0"/>
                </a:moveTo>
                <a:lnTo>
                  <a:pt x="6070597" y="0"/>
                </a:lnTo>
                <a:lnTo>
                  <a:pt x="6070597" y="1650996"/>
                </a:lnTo>
                <a:lnTo>
                  <a:pt x="0" y="16509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6572" y="6251877"/>
            <a:ext cx="6070597" cy="1641472"/>
          </a:xfrm>
          <a:custGeom>
            <a:avLst/>
            <a:gdLst/>
            <a:ahLst/>
            <a:cxnLst/>
            <a:rect r="r" b="b" t="t" l="l"/>
            <a:pathLst>
              <a:path h="1641472" w="6070597">
                <a:moveTo>
                  <a:pt x="0" y="0"/>
                </a:moveTo>
                <a:lnTo>
                  <a:pt x="6070597" y="0"/>
                </a:lnTo>
                <a:lnTo>
                  <a:pt x="6070597" y="1641471"/>
                </a:lnTo>
                <a:lnTo>
                  <a:pt x="0" y="16414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6572" y="7937802"/>
            <a:ext cx="6070597" cy="1650997"/>
          </a:xfrm>
          <a:custGeom>
            <a:avLst/>
            <a:gdLst/>
            <a:ahLst/>
            <a:cxnLst/>
            <a:rect r="r" b="b" t="t" l="l"/>
            <a:pathLst>
              <a:path h="1650997" w="6070597">
                <a:moveTo>
                  <a:pt x="0" y="0"/>
                </a:moveTo>
                <a:lnTo>
                  <a:pt x="6070597" y="0"/>
                </a:lnTo>
                <a:lnTo>
                  <a:pt x="6070597" y="1650996"/>
                </a:lnTo>
                <a:lnTo>
                  <a:pt x="0" y="16509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7493" y="1688668"/>
            <a:ext cx="6042536" cy="52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Smart Traffic &amp; Emergency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4526" y="2222068"/>
            <a:ext cx="4768072" cy="52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Management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575" y="6954774"/>
            <a:ext cx="2657294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Green Corridors for 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7398" y="7287216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0575" y="5259324"/>
            <a:ext cx="3289687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Accident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1137" y="5591766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365" y="8640699"/>
            <a:ext cx="3306299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Automated Emergency Alerts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7161" y="8973141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0365" y="3563874"/>
            <a:ext cx="3543271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AI-powered Traffic Optimisation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89577" y="3896316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0575" y="3991566"/>
            <a:ext cx="1848669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Dynamic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signal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0575" y="5687016"/>
            <a:ext cx="1931308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YOLO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model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integration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0575" y="7382466"/>
            <a:ext cx="2316089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Prioritised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ambulance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routes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0575" y="9068391"/>
            <a:ext cx="2391804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Hospital</a:t>
            </a:r>
            <a:r>
              <a:rPr lang="en-US" sz="1350" spc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&amp;</a:t>
            </a:r>
            <a:r>
              <a:rPr lang="en-US" sz="1350" spc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police</a:t>
            </a:r>
            <a:r>
              <a:rPr lang="en-US" sz="1350" spc="1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45852"/>
            <a:ext cx="11430000" cy="9833810"/>
          </a:xfrm>
          <a:custGeom>
            <a:avLst/>
            <a:gdLst/>
            <a:ahLst/>
            <a:cxnLst/>
            <a:rect r="r" b="b" t="t" l="l"/>
            <a:pathLst>
              <a:path h="9833810" w="11430000">
                <a:moveTo>
                  <a:pt x="0" y="0"/>
                </a:moveTo>
                <a:lnTo>
                  <a:pt x="11430000" y="0"/>
                </a:lnTo>
                <a:lnTo>
                  <a:pt x="11430000" y="9833810"/>
                </a:lnTo>
                <a:lnTo>
                  <a:pt x="0" y="9833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47852"/>
            <a:ext cx="11430000" cy="9829800"/>
          </a:xfrm>
          <a:custGeom>
            <a:avLst/>
            <a:gdLst/>
            <a:ahLst/>
            <a:cxnLst/>
            <a:rect r="r" b="b" t="t" l="l"/>
            <a:pathLst>
              <a:path h="9829800" w="11430000">
                <a:moveTo>
                  <a:pt x="0" y="0"/>
                </a:moveTo>
                <a:lnTo>
                  <a:pt x="11430000" y="0"/>
                </a:lnTo>
                <a:lnTo>
                  <a:pt x="11430000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584349"/>
            <a:ext cx="11556997" cy="9956797"/>
          </a:xfrm>
          <a:custGeom>
            <a:avLst/>
            <a:gdLst/>
            <a:ahLst/>
            <a:cxnLst/>
            <a:rect r="r" b="b" t="t" l="l"/>
            <a:pathLst>
              <a:path h="9956797" w="11556997">
                <a:moveTo>
                  <a:pt x="0" y="0"/>
                </a:moveTo>
                <a:lnTo>
                  <a:pt x="11556997" y="0"/>
                </a:lnTo>
                <a:lnTo>
                  <a:pt x="11556997" y="9956797"/>
                </a:lnTo>
                <a:lnTo>
                  <a:pt x="0" y="9956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64741" y="1155116"/>
            <a:ext cx="4386396" cy="58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Technical Approach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050" y="3125572"/>
            <a:ext cx="980856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007" y="3458013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840" y="2134972"/>
            <a:ext cx="1312688" cy="66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AI/ML Stack</a:t>
            </a:r>
          </a:p>
          <a:p>
            <a:pPr algn="ctr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86450" y="3125572"/>
            <a:ext cx="1029605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11804" y="3458013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86450" y="2134972"/>
            <a:ext cx="1206665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5429" y="2467413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050" y="3553263"/>
            <a:ext cx="2216277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FastAPI,PostgreSQL, Redis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1050" y="2562663"/>
            <a:ext cx="2941129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Python,TensorFlow, OpenCV, YOLO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6450" y="3553263"/>
            <a:ext cx="1574502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React.js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86450" y="2562663"/>
            <a:ext cx="1902638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SUMO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Traffic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Simulator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3528" y="8528066"/>
            <a:ext cx="1659026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b="true" sz="1800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Cameras &amp; IoT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7401" y="8823665"/>
            <a:ext cx="52426" cy="30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2904" y="4829308"/>
            <a:ext cx="1148534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b="true" sz="1800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Engine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05564" y="5124898"/>
            <a:ext cx="52426" cy="30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87201" y="8528066"/>
            <a:ext cx="1667427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b="true" sz="1800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Signal Control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31301" y="8823665"/>
            <a:ext cx="52426" cy="30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05889" y="4829308"/>
            <a:ext cx="2117503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b="true" sz="1800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Emergency Alerts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60828" y="5124898"/>
            <a:ext cx="781488" cy="5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incidents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5892" y="8528066"/>
            <a:ext cx="2217087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6"/>
              </a:lnSpc>
            </a:pPr>
            <a:r>
              <a:rPr lang="en-US" b="true" sz="1800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Central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5372" y="8823665"/>
            <a:ext cx="52426" cy="305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7708" y="8890340"/>
            <a:ext cx="2498655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Collectreal-timesensorand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9006" y="9124055"/>
            <a:ext cx="1015575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video feeds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1741" y="5191573"/>
            <a:ext cx="2142049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Process frameswithML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09871" y="5425288"/>
            <a:ext cx="1827943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models and analytics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99692" y="8890340"/>
            <a:ext cx="2102529" cy="47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Adjusttraffic signalsvia control APIs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56543" y="5191573"/>
            <a:ext cx="2014014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Trigger</a:t>
            </a:r>
            <a:r>
              <a:rPr lang="en-US" sz="144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notifications</a:t>
            </a:r>
            <a:r>
              <a:rPr lang="en-US" sz="144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for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20398" y="8890340"/>
            <a:ext cx="1718139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Visualize statusand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29317" y="9124055"/>
            <a:ext cx="1496330" cy="23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44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historical insights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340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4340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234315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5E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143750" y="234340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5647" y="4107713"/>
            <a:ext cx="4499629" cy="44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Feasibility &amp; Viability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735" y="4744669"/>
            <a:ext cx="58807" cy="46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1A936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2390" y="4811344"/>
            <a:ext cx="1102176" cy="40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b="true" sz="1687">
                <a:solidFill>
                  <a:srgbClr val="1A936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Feasibility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6981" y="5210461"/>
            <a:ext cx="49139" cy="37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32477" y="4811344"/>
            <a:ext cx="569671" cy="77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15"/>
              </a:lnSpc>
            </a:pPr>
            <a:r>
              <a:rPr lang="en-US" b="true" sz="1687">
                <a:solidFill>
                  <a:srgbClr val="D953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Risks</a:t>
            </a:r>
          </a:p>
          <a:p>
            <a:pPr algn="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6411" y="4811344"/>
            <a:ext cx="1032224" cy="40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b="true" sz="1687">
                <a:solidFill>
                  <a:srgbClr val="F0AD4E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Solutions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08376" y="5210461"/>
            <a:ext cx="49139" cy="37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5773" y="5324761"/>
            <a:ext cx="1519352" cy="2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Leverages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existing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6827" y="5600986"/>
            <a:ext cx="832152" cy="2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CCTV/IoT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7356" y="5877211"/>
            <a:ext cx="1475356" cy="96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infrastructure</a:t>
            </a:r>
          </a:p>
          <a:p>
            <a:pPr algn="ctr">
              <a:lnSpc>
                <a:spcPts val="3375"/>
              </a:lnSpc>
            </a:pP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Scalable, cloud-</a:t>
            </a:r>
          </a:p>
          <a:p>
            <a:pPr algn="ctr">
              <a:lnSpc>
                <a:spcPts val="9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ready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09567" y="5210461"/>
            <a:ext cx="1762563" cy="178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High data</a:t>
            </a:r>
          </a:p>
          <a:p>
            <a:pPr algn="ctr">
              <a:lnSpc>
                <a:spcPts val="9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processing demands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Hardware acquisition </a:t>
            </a:r>
          </a:p>
          <a:p>
            <a:pPr algn="ctr">
              <a:lnSpc>
                <a:spcPts val="9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costs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IoT device reliability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05527" y="5210461"/>
            <a:ext cx="1649768" cy="37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Edge computingfor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10442" y="5715286"/>
            <a:ext cx="1590408" cy="57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local processing</a:t>
            </a:r>
          </a:p>
          <a:p>
            <a:pPr algn="ctr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Phased pilot testing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47224" y="6343936"/>
            <a:ext cx="1156859" cy="65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1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Hybrid server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553"/>
            <a:ext cx="11430000" cy="11128619"/>
          </a:xfrm>
          <a:custGeom>
            <a:avLst/>
            <a:gdLst/>
            <a:ahLst/>
            <a:cxnLst/>
            <a:rect r="r" b="b" t="t" l="l"/>
            <a:pathLst>
              <a:path h="11128619" w="11430000">
                <a:moveTo>
                  <a:pt x="0" y="0"/>
                </a:moveTo>
                <a:lnTo>
                  <a:pt x="11430000" y="0"/>
                </a:lnTo>
                <a:lnTo>
                  <a:pt x="11430000" y="11128620"/>
                </a:lnTo>
                <a:lnTo>
                  <a:pt x="0" y="11128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52"/>
            <a:ext cx="11430000" cy="11125200"/>
          </a:xfrm>
          <a:custGeom>
            <a:avLst/>
            <a:gdLst/>
            <a:ahLst/>
            <a:cxnLst/>
            <a:rect r="r" b="b" t="t" l="l"/>
            <a:pathLst>
              <a:path h="11125200" w="11430000">
                <a:moveTo>
                  <a:pt x="0" y="0"/>
                </a:moveTo>
                <a:lnTo>
                  <a:pt x="11430000" y="0"/>
                </a:lnTo>
                <a:lnTo>
                  <a:pt x="11430000" y="11125200"/>
                </a:lnTo>
                <a:lnTo>
                  <a:pt x="0" y="11125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3503" y="-63351"/>
            <a:ext cx="11556997" cy="11252197"/>
          </a:xfrm>
          <a:custGeom>
            <a:avLst/>
            <a:gdLst/>
            <a:ahLst/>
            <a:cxnLst/>
            <a:rect r="r" b="b" t="t" l="l"/>
            <a:pathLst>
              <a:path h="11252197" w="11556997">
                <a:moveTo>
                  <a:pt x="0" y="0"/>
                </a:moveTo>
                <a:lnTo>
                  <a:pt x="11556997" y="0"/>
                </a:lnTo>
                <a:lnTo>
                  <a:pt x="11556997" y="11252197"/>
                </a:lnTo>
                <a:lnTo>
                  <a:pt x="0" y="11252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2348" y="507416"/>
            <a:ext cx="3962762" cy="58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Impact &amp; Benefits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075" y="1944472"/>
            <a:ext cx="1503740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Social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775" y="2276913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075" y="3573247"/>
            <a:ext cx="1642558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Environmental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2994" y="3905688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22166" y="3573247"/>
            <a:ext cx="1330385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Governance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71650" y="3905688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22166" y="1944472"/>
            <a:ext cx="1789014" cy="35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Economic Gains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0778" y="2276913"/>
            <a:ext cx="49139" cy="329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075" y="4000938"/>
            <a:ext cx="1985934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Lower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carbon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emissions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0075" y="2372163"/>
            <a:ext cx="2413273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Livessaved,enhanced safety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68863" y="10392213"/>
            <a:ext cx="2542146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Commute time reduced by 15%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22166" y="2372163"/>
            <a:ext cx="2113302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Reduced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fuel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&amp;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time</a:t>
            </a: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costs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22166" y="4000938"/>
            <a:ext cx="2900258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Improvedinter-agency coordination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5427" y="9735322"/>
            <a:ext cx="118767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31422" y="6222082"/>
            <a:ext cx="235134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30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456" y="7972006"/>
            <a:ext cx="187033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15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4241" y="4458919"/>
            <a:ext cx="232239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45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32153" y="9936851"/>
            <a:ext cx="1304477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Before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80906" y="9936851"/>
            <a:ext cx="1143124" cy="25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6"/>
              </a:lnSpc>
            </a:pPr>
            <a:r>
              <a:rPr lang="en-US" sz="1483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After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340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4340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2279647"/>
            <a:ext cx="11556997" cy="6565897"/>
            <a:chOff x="0" y="0"/>
            <a:chExt cx="11557000" cy="656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EB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01675" y="320675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1675" y="35401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1675" y="387350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1675" y="420687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638925" y="546735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29525" y="546735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29650" y="546735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0250" y="5467350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36414" y="4450613"/>
            <a:ext cx="5056203" cy="58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Research &amp; References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4214" y="5305711"/>
            <a:ext cx="4393044" cy="131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SUMO Traffic Simulator documentation YOLO v8 accident detection research papers Reinforcement Learning for traffic optimisation studies Government of India traffic accident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340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4340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234315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C3C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343407"/>
            <a:ext cx="11430000" cy="2142868"/>
          </a:xfrm>
          <a:custGeom>
            <a:avLst/>
            <a:gdLst/>
            <a:ahLst/>
            <a:cxnLst/>
            <a:rect r="r" b="b" t="t" l="l"/>
            <a:pathLst>
              <a:path h="2142868" w="11430000">
                <a:moveTo>
                  <a:pt x="0" y="0"/>
                </a:moveTo>
                <a:lnTo>
                  <a:pt x="11430000" y="0"/>
                </a:lnTo>
                <a:lnTo>
                  <a:pt x="11430000" y="2142868"/>
                </a:lnTo>
                <a:lnTo>
                  <a:pt x="0" y="21428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6572" y="6632572"/>
            <a:ext cx="146047" cy="793747"/>
          </a:xfrm>
          <a:custGeom>
            <a:avLst/>
            <a:gdLst/>
            <a:ahLst/>
            <a:cxnLst/>
            <a:rect r="r" b="b" t="t" l="l"/>
            <a:pathLst>
              <a:path h="793747" w="146047">
                <a:moveTo>
                  <a:pt x="0" y="0"/>
                </a:moveTo>
                <a:lnTo>
                  <a:pt x="146047" y="0"/>
                </a:lnTo>
                <a:lnTo>
                  <a:pt x="146047" y="793747"/>
                </a:lnTo>
                <a:lnTo>
                  <a:pt x="0" y="7937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94114" y="6231788"/>
            <a:ext cx="5754386" cy="28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Our Solution Matters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25140" y="6763036"/>
            <a:ext cx="49139" cy="37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6905911"/>
            <a:ext cx="9988191" cy="234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"Smart urban infrastructureisn'tjustaboutefficiency;it'saboutsavinglivesandbuildingasustainable future for our cities."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340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4340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234315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9DC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234340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22822" y="4317997"/>
            <a:ext cx="517522" cy="507997"/>
          </a:xfrm>
          <a:custGeom>
            <a:avLst/>
            <a:gdLst/>
            <a:ahLst/>
            <a:cxnLst/>
            <a:rect r="r" b="b" t="t" l="l"/>
            <a:pathLst>
              <a:path h="507997" w="517522">
                <a:moveTo>
                  <a:pt x="0" y="0"/>
                </a:moveTo>
                <a:lnTo>
                  <a:pt x="517522" y="0"/>
                </a:lnTo>
                <a:lnTo>
                  <a:pt x="517522" y="507997"/>
                </a:lnTo>
                <a:lnTo>
                  <a:pt x="0" y="507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22822" y="5365747"/>
            <a:ext cx="517522" cy="507997"/>
          </a:xfrm>
          <a:custGeom>
            <a:avLst/>
            <a:gdLst/>
            <a:ahLst/>
            <a:cxnLst/>
            <a:rect r="r" b="b" t="t" l="l"/>
            <a:pathLst>
              <a:path h="507997" w="517522">
                <a:moveTo>
                  <a:pt x="0" y="0"/>
                </a:moveTo>
                <a:lnTo>
                  <a:pt x="517522" y="0"/>
                </a:lnTo>
                <a:lnTo>
                  <a:pt x="517522" y="507997"/>
                </a:lnTo>
                <a:lnTo>
                  <a:pt x="0" y="5079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2822" y="6403972"/>
            <a:ext cx="517522" cy="517522"/>
          </a:xfrm>
          <a:custGeom>
            <a:avLst/>
            <a:gdLst/>
            <a:ahLst/>
            <a:cxnLst/>
            <a:rect r="r" b="b" t="t" l="l"/>
            <a:pathLst>
              <a:path h="517522" w="517522">
                <a:moveTo>
                  <a:pt x="0" y="0"/>
                </a:moveTo>
                <a:lnTo>
                  <a:pt x="517522" y="0"/>
                </a:lnTo>
                <a:lnTo>
                  <a:pt x="517522" y="517522"/>
                </a:lnTo>
                <a:lnTo>
                  <a:pt x="0" y="5175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62292" y="3136163"/>
            <a:ext cx="5005111" cy="52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Key Takeaways &amp; Next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55383" y="3669563"/>
            <a:ext cx="1229401" cy="52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Steps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74260" y="4277944"/>
            <a:ext cx="58807" cy="46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31591" y="4408922"/>
            <a:ext cx="158048" cy="3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b="true" sz="2025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r>
              <a:rPr lang="en-US" b="true" sz="2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3547" y="4439869"/>
            <a:ext cx="2297916" cy="305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InnovativeApproach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3547" y="4705636"/>
            <a:ext cx="4326045" cy="34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AI-driven, real-time traffic &amp; emergency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05388" y="5266172"/>
            <a:ext cx="150571" cy="55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3538" y="5325694"/>
            <a:ext cx="4639551" cy="77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Tangible Impact</a:t>
            </a:r>
          </a:p>
          <a:p>
            <a:pPr algn="l">
              <a:lnSpc>
                <a:spcPts val="993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Improved safety, economic benefits, environmental gains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05540" y="6313922"/>
            <a:ext cx="150047" cy="55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43538" y="6373444"/>
            <a:ext cx="4441536" cy="77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b="true" sz="1687">
                <a:solidFill>
                  <a:srgbClr val="3D3E44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Scalable &amp; Feasible</a:t>
            </a:r>
          </a:p>
          <a:p>
            <a:pPr algn="l">
              <a:lnSpc>
                <a:spcPts val="993"/>
              </a:lnSpc>
            </a:pPr>
            <a:r>
              <a:rPr lang="en-US" sz="1350">
                <a:solidFill>
                  <a:srgbClr val="3D3E44"/>
                </a:solidFill>
                <a:latin typeface="Inter Light"/>
                <a:ea typeface="Inter Light"/>
                <a:cs typeface="Inter Light"/>
                <a:sym typeface="Inter Light"/>
              </a:rPr>
              <a:t>Leverages existing tech, ready for pilot implementation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83032" y="7236647"/>
            <a:ext cx="5323237" cy="55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Join us in building smarter, safer Indian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83373" y="7941497"/>
            <a:ext cx="764391" cy="17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"/>
              </a:lnSpc>
            </a:pPr>
            <a:r>
              <a:rPr lang="en-US" b="true" sz="202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cities!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95398" y="2343150"/>
            <a:ext cx="6439205" cy="6439205"/>
          </a:xfrm>
          <a:custGeom>
            <a:avLst/>
            <a:gdLst/>
            <a:ahLst/>
            <a:cxnLst/>
            <a:rect r="r" b="b" t="t" l="l"/>
            <a:pathLst>
              <a:path h="6439205" w="6439205">
                <a:moveTo>
                  <a:pt x="0" y="0"/>
                </a:moveTo>
                <a:lnTo>
                  <a:pt x="6439204" y="0"/>
                </a:lnTo>
                <a:lnTo>
                  <a:pt x="6439204" y="6439205"/>
                </a:lnTo>
                <a:lnTo>
                  <a:pt x="0" y="6439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4971" y="2343150"/>
            <a:ext cx="7940058" cy="5558677"/>
          </a:xfrm>
          <a:custGeom>
            <a:avLst/>
            <a:gdLst/>
            <a:ahLst/>
            <a:cxnLst/>
            <a:rect r="r" b="b" t="t" l="l"/>
            <a:pathLst>
              <a:path h="5558677" w="7940058">
                <a:moveTo>
                  <a:pt x="0" y="0"/>
                </a:moveTo>
                <a:lnTo>
                  <a:pt x="7940058" y="0"/>
                </a:lnTo>
                <a:lnTo>
                  <a:pt x="7940058" y="5558677"/>
                </a:lnTo>
                <a:lnTo>
                  <a:pt x="0" y="555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0238" y="5442911"/>
            <a:ext cx="952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100334"/>
            <a:ext cx="11439525" cy="282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6"/>
              </a:lnSpc>
              <a:spcBef>
                <a:spcPct val="0"/>
              </a:spcBef>
            </a:pPr>
            <a:r>
              <a:rPr lang="en-US" b="true" sz="162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Prototype link : </a:t>
            </a:r>
            <a:r>
              <a:rPr lang="en-US" sz="1625" u="sng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3" tooltip="https://drive.google.com/file/d/1TEEN4ZpDk3QWOJIDqtKY3n54AR1867F8/view?usp=sharing"/>
              </a:rPr>
              <a:t>https://drive.google.com/file/d/1TEEN4ZpDk3QWOJIDqtKY3n54AR1867F8/view?usp=sharing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343407"/>
            <a:ext cx="11430000" cy="6438900"/>
          </a:xfrm>
          <a:custGeom>
            <a:avLst/>
            <a:gdLst/>
            <a:ahLst/>
            <a:cxnLst/>
            <a:rect r="r" b="b" t="t" l="l"/>
            <a:pathLst>
              <a:path h="6438900" w="11430000">
                <a:moveTo>
                  <a:pt x="0" y="0"/>
                </a:moveTo>
                <a:lnTo>
                  <a:pt x="11430000" y="0"/>
                </a:lnTo>
                <a:lnTo>
                  <a:pt x="11430000" y="6438900"/>
                </a:lnTo>
                <a:lnTo>
                  <a:pt x="0" y="643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" r="0" b="-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4340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0" y="2343151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A5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30334" y="5376967"/>
            <a:ext cx="4660525" cy="58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6750">
                <a:solidFill>
                  <a:srgbClr val="E5E0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17535" y="5874572"/>
            <a:ext cx="70561" cy="557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b="true" sz="2025">
                <a:solidFill>
                  <a:srgbClr val="E5E0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2080" y="6084122"/>
            <a:ext cx="9104281" cy="34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E5E0D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Building smarter,safercitiestogetherforasustainableurban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DAGzBb-Rgl4</dc:identifier>
  <dcterms:modified xsi:type="dcterms:W3CDTF">2011-08-01T06:04:30Z</dcterms:modified>
  <cp:revision>1</cp:revision>
  <dc:title>DOC-20250914-WA0015.</dc:title>
</cp:coreProperties>
</file>